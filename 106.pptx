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66" r:id="rId4"/>
  </p:sldMasterIdLst>
  <p:notesMasterIdLst>
    <p:notesMasterId r:id="rId21"/>
  </p:notesMasterIdLst>
  <p:handoutMasterIdLst>
    <p:handoutMasterId r:id="rId22"/>
  </p:handoutMasterIdLst>
  <p:sldIdLst>
    <p:sldId id="256" r:id="rId5"/>
    <p:sldId id="309" r:id="rId6"/>
    <p:sldId id="310" r:id="rId7"/>
    <p:sldId id="311" r:id="rId8"/>
    <p:sldId id="313" r:id="rId9"/>
    <p:sldId id="312" r:id="rId10"/>
    <p:sldId id="318" r:id="rId11"/>
    <p:sldId id="314" r:id="rId12"/>
    <p:sldId id="315" r:id="rId13"/>
    <p:sldId id="316" r:id="rId14"/>
    <p:sldId id="317" r:id="rId15"/>
    <p:sldId id="304" r:id="rId16"/>
    <p:sldId id="302" r:id="rId17"/>
    <p:sldId id="305" r:id="rId18"/>
    <p:sldId id="306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 autoAdjust="0"/>
    <p:restoredTop sz="94694" autoAdjust="0"/>
  </p:normalViewPr>
  <p:slideViewPr>
    <p:cSldViewPr snapToGrid="0">
      <p:cViewPr varScale="1">
        <p:scale>
          <a:sx n="121" d="100"/>
          <a:sy n="121" d="100"/>
        </p:scale>
        <p:origin x="1032" y="17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9634C7-BE0A-404D-8CA6-51611AD54032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</dgm:pt>
    <dgm:pt modelId="{A99A0A44-D5FE-4848-A8CD-3896247AAE6F}">
      <dgm:prSet phldrT="[Text]" phldr="0"/>
      <dgm:spPr/>
      <dgm:t>
        <a:bodyPr/>
        <a:lstStyle/>
        <a:p>
          <a:pPr rtl="0"/>
          <a:r>
            <a:rPr lang="en-US" dirty="0">
              <a:latin typeface="Tenorite"/>
            </a:rPr>
            <a:t>PDF Ingestion</a:t>
          </a:r>
          <a:endParaRPr lang="en-US" dirty="0"/>
        </a:p>
      </dgm:t>
    </dgm:pt>
    <dgm:pt modelId="{79B7F042-BAD5-47E9-9A0E-1760EED12653}" type="parTrans" cxnId="{A9D2AEA1-9309-4D2F-A201-19BD26AADF9D}">
      <dgm:prSet/>
      <dgm:spPr/>
      <dgm:t>
        <a:bodyPr/>
        <a:lstStyle/>
        <a:p>
          <a:endParaRPr lang="en-US"/>
        </a:p>
      </dgm:t>
    </dgm:pt>
    <dgm:pt modelId="{317D729C-E6E2-48CF-89F7-2D37832E132B}" type="sibTrans" cxnId="{A9D2AEA1-9309-4D2F-A201-19BD26AADF9D}">
      <dgm:prSet/>
      <dgm:spPr/>
      <dgm:t>
        <a:bodyPr/>
        <a:lstStyle/>
        <a:p>
          <a:endParaRPr lang="en-US"/>
        </a:p>
      </dgm:t>
    </dgm:pt>
    <dgm:pt modelId="{609D7968-025E-4133-AEA6-0759FBCBF7F9}">
      <dgm:prSet phldrT="[Text]" phldr="0"/>
      <dgm:spPr/>
      <dgm:t>
        <a:bodyPr/>
        <a:lstStyle/>
        <a:p>
          <a:pPr rtl="0"/>
          <a:r>
            <a:rPr lang="en-US" dirty="0">
              <a:latin typeface="Tenorite"/>
            </a:rPr>
            <a:t>Chunking and storing in Vector DB</a:t>
          </a:r>
          <a:endParaRPr lang="en-US" dirty="0"/>
        </a:p>
      </dgm:t>
    </dgm:pt>
    <dgm:pt modelId="{D0129475-04CF-4A8C-A0E6-0514A560A72C}" type="parTrans" cxnId="{39DB7E4D-14A3-4A8C-B745-1CF5C191A04A}">
      <dgm:prSet/>
      <dgm:spPr/>
      <dgm:t>
        <a:bodyPr/>
        <a:lstStyle/>
        <a:p>
          <a:endParaRPr lang="en-US"/>
        </a:p>
      </dgm:t>
    </dgm:pt>
    <dgm:pt modelId="{EE666449-DF74-4790-ACE0-5B47E0D94829}" type="sibTrans" cxnId="{39DB7E4D-14A3-4A8C-B745-1CF5C191A04A}">
      <dgm:prSet/>
      <dgm:spPr/>
      <dgm:t>
        <a:bodyPr/>
        <a:lstStyle/>
        <a:p>
          <a:endParaRPr lang="en-US"/>
        </a:p>
      </dgm:t>
    </dgm:pt>
    <dgm:pt modelId="{647E97CC-2E72-4BFB-82D5-F80508ECC19C}">
      <dgm:prSet phldrT="[Text]" phldr="0"/>
      <dgm:spPr/>
      <dgm:t>
        <a:bodyPr/>
        <a:lstStyle/>
        <a:p>
          <a:pPr rtl="0"/>
          <a:r>
            <a:rPr lang="en-US" dirty="0">
              <a:latin typeface="Tenorite"/>
            </a:rPr>
            <a:t>User Query Processing</a:t>
          </a:r>
          <a:endParaRPr lang="en-US" dirty="0"/>
        </a:p>
      </dgm:t>
    </dgm:pt>
    <dgm:pt modelId="{C0898D8D-D494-4B7F-87C2-A403181679EA}" type="parTrans" cxnId="{C7452025-530D-4005-A193-31018CE7904E}">
      <dgm:prSet/>
      <dgm:spPr/>
      <dgm:t>
        <a:bodyPr/>
        <a:lstStyle/>
        <a:p>
          <a:endParaRPr lang="en-US"/>
        </a:p>
      </dgm:t>
    </dgm:pt>
    <dgm:pt modelId="{B856C79F-85A0-40A6-915A-12C2E2504A26}" type="sibTrans" cxnId="{C7452025-530D-4005-A193-31018CE7904E}">
      <dgm:prSet/>
      <dgm:spPr/>
      <dgm:t>
        <a:bodyPr/>
        <a:lstStyle/>
        <a:p>
          <a:endParaRPr lang="en-US"/>
        </a:p>
      </dgm:t>
    </dgm:pt>
    <dgm:pt modelId="{6C57A0B9-DD1D-4D20-9F1D-7089CD7C7B06}">
      <dgm:prSet phldr="0"/>
      <dgm:spPr/>
      <dgm:t>
        <a:bodyPr/>
        <a:lstStyle/>
        <a:p>
          <a:pPr rtl="0"/>
          <a:r>
            <a:rPr lang="en-US" dirty="0">
              <a:latin typeface="Tenorite"/>
            </a:rPr>
            <a:t>Contextual Retrieval</a:t>
          </a:r>
        </a:p>
      </dgm:t>
    </dgm:pt>
    <dgm:pt modelId="{E820C5D0-138A-494C-B12F-2C398843F07C}" type="parTrans" cxnId="{ACAEAE5A-8C44-46B2-BCA6-CFEC0E3CE666}">
      <dgm:prSet/>
      <dgm:spPr/>
      <dgm:t>
        <a:bodyPr/>
        <a:lstStyle/>
        <a:p>
          <a:endParaRPr lang="en-US"/>
        </a:p>
      </dgm:t>
    </dgm:pt>
    <dgm:pt modelId="{3ED76123-9256-4E77-A1AD-0C29B6BD68D6}" type="sibTrans" cxnId="{ACAEAE5A-8C44-46B2-BCA6-CFEC0E3CE666}">
      <dgm:prSet/>
      <dgm:spPr/>
      <dgm:t>
        <a:bodyPr/>
        <a:lstStyle/>
        <a:p>
          <a:endParaRPr lang="en-US"/>
        </a:p>
      </dgm:t>
    </dgm:pt>
    <dgm:pt modelId="{7EDFB41F-4C85-46E3-B578-89DC0207A9B2}">
      <dgm:prSet phldr="0"/>
      <dgm:spPr/>
      <dgm:t>
        <a:bodyPr/>
        <a:lstStyle/>
        <a:p>
          <a:pPr rtl="0"/>
          <a:r>
            <a:rPr lang="en-US" dirty="0">
              <a:latin typeface="Tenorite"/>
            </a:rPr>
            <a:t>Answer Generation</a:t>
          </a:r>
        </a:p>
      </dgm:t>
    </dgm:pt>
    <dgm:pt modelId="{998D7B00-58B3-467D-82AC-DB03C3D6FA58}" type="parTrans" cxnId="{0AEF4971-9F6F-423E-8BCF-666FC0540E15}">
      <dgm:prSet/>
      <dgm:spPr/>
      <dgm:t>
        <a:bodyPr/>
        <a:lstStyle/>
        <a:p>
          <a:endParaRPr lang="en-US"/>
        </a:p>
      </dgm:t>
    </dgm:pt>
    <dgm:pt modelId="{EA841707-19D9-4B7E-AE52-B8E7B323F997}" type="sibTrans" cxnId="{0AEF4971-9F6F-423E-8BCF-666FC0540E15}">
      <dgm:prSet/>
      <dgm:spPr/>
      <dgm:t>
        <a:bodyPr/>
        <a:lstStyle/>
        <a:p>
          <a:endParaRPr lang="en-US"/>
        </a:p>
      </dgm:t>
    </dgm:pt>
    <dgm:pt modelId="{A1B1DF3D-87E2-4C3B-B35F-C97B23338BF1}" type="pres">
      <dgm:prSet presAssocID="{BC9634C7-BE0A-404D-8CA6-51611AD54032}" presName="Name0" presStyleCnt="0">
        <dgm:presLayoutVars>
          <dgm:dir/>
          <dgm:animLvl val="lvl"/>
          <dgm:resizeHandles val="exact"/>
        </dgm:presLayoutVars>
      </dgm:prSet>
      <dgm:spPr/>
    </dgm:pt>
    <dgm:pt modelId="{3B25A1D5-A1B5-4A31-97C8-3885A15763EC}" type="pres">
      <dgm:prSet presAssocID="{A99A0A44-D5FE-4848-A8CD-3896247AAE6F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CE333F10-19A6-4214-937C-464DCAAEA94B}" type="pres">
      <dgm:prSet presAssocID="{317D729C-E6E2-48CF-89F7-2D37832E132B}" presName="parTxOnlySpace" presStyleCnt="0"/>
      <dgm:spPr/>
    </dgm:pt>
    <dgm:pt modelId="{25E4A330-CF16-42A9-93B3-EFAE34255118}" type="pres">
      <dgm:prSet presAssocID="{609D7968-025E-4133-AEA6-0759FBCBF7F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2F07100-ED73-4CEF-950A-E949C5F0CBDA}" type="pres">
      <dgm:prSet presAssocID="{EE666449-DF74-4790-ACE0-5B47E0D94829}" presName="parTxOnlySpace" presStyleCnt="0"/>
      <dgm:spPr/>
    </dgm:pt>
    <dgm:pt modelId="{DB601655-5A63-4384-8C36-D20D27509B69}" type="pres">
      <dgm:prSet presAssocID="{647E97CC-2E72-4BFB-82D5-F80508ECC19C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AD2DE94-764D-4B81-BCF2-7A8E4E3AD1A9}" type="pres">
      <dgm:prSet presAssocID="{B856C79F-85A0-40A6-915A-12C2E2504A26}" presName="parTxOnlySpace" presStyleCnt="0"/>
      <dgm:spPr/>
    </dgm:pt>
    <dgm:pt modelId="{5C8C1744-1EF5-4530-803B-242E55F41B0C}" type="pres">
      <dgm:prSet presAssocID="{6C57A0B9-DD1D-4D20-9F1D-7089CD7C7B0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A342958-FABB-46DD-8A80-DBBD823B4B9D}" type="pres">
      <dgm:prSet presAssocID="{3ED76123-9256-4E77-A1AD-0C29B6BD68D6}" presName="parTxOnlySpace" presStyleCnt="0"/>
      <dgm:spPr/>
    </dgm:pt>
    <dgm:pt modelId="{7C8286F8-4C4D-4155-BF34-FFBC72A43679}" type="pres">
      <dgm:prSet presAssocID="{7EDFB41F-4C85-46E3-B578-89DC0207A9B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7452025-530D-4005-A193-31018CE7904E}" srcId="{BC9634C7-BE0A-404D-8CA6-51611AD54032}" destId="{647E97CC-2E72-4BFB-82D5-F80508ECC19C}" srcOrd="2" destOrd="0" parTransId="{C0898D8D-D494-4B7F-87C2-A403181679EA}" sibTransId="{B856C79F-85A0-40A6-915A-12C2E2504A26}"/>
    <dgm:cxn modelId="{39DB7E4D-14A3-4A8C-B745-1CF5C191A04A}" srcId="{BC9634C7-BE0A-404D-8CA6-51611AD54032}" destId="{609D7968-025E-4133-AEA6-0759FBCBF7F9}" srcOrd="1" destOrd="0" parTransId="{D0129475-04CF-4A8C-A0E6-0514A560A72C}" sibTransId="{EE666449-DF74-4790-ACE0-5B47E0D94829}"/>
    <dgm:cxn modelId="{ACAEAE5A-8C44-46B2-BCA6-CFEC0E3CE666}" srcId="{BC9634C7-BE0A-404D-8CA6-51611AD54032}" destId="{6C57A0B9-DD1D-4D20-9F1D-7089CD7C7B06}" srcOrd="3" destOrd="0" parTransId="{E820C5D0-138A-494C-B12F-2C398843F07C}" sibTransId="{3ED76123-9256-4E77-A1AD-0C29B6BD68D6}"/>
    <dgm:cxn modelId="{28AD7C5B-027D-4DD9-8004-F54D63523A78}" type="presOf" srcId="{A99A0A44-D5FE-4848-A8CD-3896247AAE6F}" destId="{3B25A1D5-A1B5-4A31-97C8-3885A15763EC}" srcOrd="0" destOrd="0" presId="urn:microsoft.com/office/officeart/2005/8/layout/chevron1"/>
    <dgm:cxn modelId="{2AE0645C-BD28-4713-BA05-2CA928980F47}" type="presOf" srcId="{6C57A0B9-DD1D-4D20-9F1D-7089CD7C7B06}" destId="{5C8C1744-1EF5-4530-803B-242E55F41B0C}" srcOrd="0" destOrd="0" presId="urn:microsoft.com/office/officeart/2005/8/layout/chevron1"/>
    <dgm:cxn modelId="{D0636D62-89B3-4041-84E4-F9592FCC8461}" type="presOf" srcId="{7EDFB41F-4C85-46E3-B578-89DC0207A9B2}" destId="{7C8286F8-4C4D-4155-BF34-FFBC72A43679}" srcOrd="0" destOrd="0" presId="urn:microsoft.com/office/officeart/2005/8/layout/chevron1"/>
    <dgm:cxn modelId="{F112A86D-1183-4213-B5D7-8718990F9992}" type="presOf" srcId="{BC9634C7-BE0A-404D-8CA6-51611AD54032}" destId="{A1B1DF3D-87E2-4C3B-B35F-C97B23338BF1}" srcOrd="0" destOrd="0" presId="urn:microsoft.com/office/officeart/2005/8/layout/chevron1"/>
    <dgm:cxn modelId="{0AEF4971-9F6F-423E-8BCF-666FC0540E15}" srcId="{BC9634C7-BE0A-404D-8CA6-51611AD54032}" destId="{7EDFB41F-4C85-46E3-B578-89DC0207A9B2}" srcOrd="4" destOrd="0" parTransId="{998D7B00-58B3-467D-82AC-DB03C3D6FA58}" sibTransId="{EA841707-19D9-4B7E-AE52-B8E7B323F997}"/>
    <dgm:cxn modelId="{A9D2AEA1-9309-4D2F-A201-19BD26AADF9D}" srcId="{BC9634C7-BE0A-404D-8CA6-51611AD54032}" destId="{A99A0A44-D5FE-4848-A8CD-3896247AAE6F}" srcOrd="0" destOrd="0" parTransId="{79B7F042-BAD5-47E9-9A0E-1760EED12653}" sibTransId="{317D729C-E6E2-48CF-89F7-2D37832E132B}"/>
    <dgm:cxn modelId="{CAA9C2D6-1B3C-4AC8-BFE3-CA62E82F12FF}" type="presOf" srcId="{609D7968-025E-4133-AEA6-0759FBCBF7F9}" destId="{25E4A330-CF16-42A9-93B3-EFAE34255118}" srcOrd="0" destOrd="0" presId="urn:microsoft.com/office/officeart/2005/8/layout/chevron1"/>
    <dgm:cxn modelId="{CA9DAFE7-8BE5-41C1-BDE3-B04CB32C2A02}" type="presOf" srcId="{647E97CC-2E72-4BFB-82D5-F80508ECC19C}" destId="{DB601655-5A63-4384-8C36-D20D27509B69}" srcOrd="0" destOrd="0" presId="urn:microsoft.com/office/officeart/2005/8/layout/chevron1"/>
    <dgm:cxn modelId="{81E2E010-5103-4887-A3E2-55ECEB5549B9}" type="presParOf" srcId="{A1B1DF3D-87E2-4C3B-B35F-C97B23338BF1}" destId="{3B25A1D5-A1B5-4A31-97C8-3885A15763EC}" srcOrd="0" destOrd="0" presId="urn:microsoft.com/office/officeart/2005/8/layout/chevron1"/>
    <dgm:cxn modelId="{AACF3219-5EB9-4CBE-AB86-37F03EC5F496}" type="presParOf" srcId="{A1B1DF3D-87E2-4C3B-B35F-C97B23338BF1}" destId="{CE333F10-19A6-4214-937C-464DCAAEA94B}" srcOrd="1" destOrd="0" presId="urn:microsoft.com/office/officeart/2005/8/layout/chevron1"/>
    <dgm:cxn modelId="{B3B6A8E5-7B8B-4632-8FF9-E16D6F5639E7}" type="presParOf" srcId="{A1B1DF3D-87E2-4C3B-B35F-C97B23338BF1}" destId="{25E4A330-CF16-42A9-93B3-EFAE34255118}" srcOrd="2" destOrd="0" presId="urn:microsoft.com/office/officeart/2005/8/layout/chevron1"/>
    <dgm:cxn modelId="{73AC5A24-6E72-41EB-90D2-3575E9849A3B}" type="presParOf" srcId="{A1B1DF3D-87E2-4C3B-B35F-C97B23338BF1}" destId="{42F07100-ED73-4CEF-950A-E949C5F0CBDA}" srcOrd="3" destOrd="0" presId="urn:microsoft.com/office/officeart/2005/8/layout/chevron1"/>
    <dgm:cxn modelId="{E12DF96C-20B7-46D6-869A-BD7E04D34938}" type="presParOf" srcId="{A1B1DF3D-87E2-4C3B-B35F-C97B23338BF1}" destId="{DB601655-5A63-4384-8C36-D20D27509B69}" srcOrd="4" destOrd="0" presId="urn:microsoft.com/office/officeart/2005/8/layout/chevron1"/>
    <dgm:cxn modelId="{BD5E35D9-8895-4611-9086-A6B0635D4B0A}" type="presParOf" srcId="{A1B1DF3D-87E2-4C3B-B35F-C97B23338BF1}" destId="{5AD2DE94-764D-4B81-BCF2-7A8E4E3AD1A9}" srcOrd="5" destOrd="0" presId="urn:microsoft.com/office/officeart/2005/8/layout/chevron1"/>
    <dgm:cxn modelId="{6F51F5B7-48F0-4829-945A-3144430F5C53}" type="presParOf" srcId="{A1B1DF3D-87E2-4C3B-B35F-C97B23338BF1}" destId="{5C8C1744-1EF5-4530-803B-242E55F41B0C}" srcOrd="6" destOrd="0" presId="urn:microsoft.com/office/officeart/2005/8/layout/chevron1"/>
    <dgm:cxn modelId="{CDB97AFD-8027-44B4-A042-355215CFCFEE}" type="presParOf" srcId="{A1B1DF3D-87E2-4C3B-B35F-C97B23338BF1}" destId="{7A342958-FABB-46DD-8A80-DBBD823B4B9D}" srcOrd="7" destOrd="0" presId="urn:microsoft.com/office/officeart/2005/8/layout/chevron1"/>
    <dgm:cxn modelId="{407ED056-6356-4E9F-8808-0F580628C5B1}" type="presParOf" srcId="{A1B1DF3D-87E2-4C3B-B35F-C97B23338BF1}" destId="{7C8286F8-4C4D-4155-BF34-FFBC72A436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5A1D5-A1B5-4A31-97C8-3885A15763EC}">
      <dsp:nvSpPr>
        <dsp:cNvPr id="0" name=""/>
        <dsp:cNvSpPr/>
      </dsp:nvSpPr>
      <dsp:spPr>
        <a:xfrm>
          <a:off x="1983" y="1592630"/>
          <a:ext cx="1765547" cy="70621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enorite"/>
            </a:rPr>
            <a:t>PDF Ingestion</a:t>
          </a:r>
          <a:endParaRPr lang="en-US" sz="1400" kern="1200" dirty="0"/>
        </a:p>
      </dsp:txBody>
      <dsp:txXfrm>
        <a:off x="355092" y="1592630"/>
        <a:ext cx="1059329" cy="706218"/>
      </dsp:txXfrm>
    </dsp:sp>
    <dsp:sp modelId="{25E4A330-CF16-42A9-93B3-EFAE34255118}">
      <dsp:nvSpPr>
        <dsp:cNvPr id="0" name=""/>
        <dsp:cNvSpPr/>
      </dsp:nvSpPr>
      <dsp:spPr>
        <a:xfrm>
          <a:off x="1590976" y="1592630"/>
          <a:ext cx="1765547" cy="70621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enorite"/>
            </a:rPr>
            <a:t>Chunking and storing in Vector DB</a:t>
          </a:r>
          <a:endParaRPr lang="en-US" sz="1400" kern="1200" dirty="0"/>
        </a:p>
      </dsp:txBody>
      <dsp:txXfrm>
        <a:off x="1944085" y="1592630"/>
        <a:ext cx="1059329" cy="706218"/>
      </dsp:txXfrm>
    </dsp:sp>
    <dsp:sp modelId="{DB601655-5A63-4384-8C36-D20D27509B69}">
      <dsp:nvSpPr>
        <dsp:cNvPr id="0" name=""/>
        <dsp:cNvSpPr/>
      </dsp:nvSpPr>
      <dsp:spPr>
        <a:xfrm>
          <a:off x="3179968" y="1592630"/>
          <a:ext cx="1765547" cy="70621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enorite"/>
            </a:rPr>
            <a:t>User Query Processing</a:t>
          </a:r>
          <a:endParaRPr lang="en-US" sz="1400" kern="1200" dirty="0"/>
        </a:p>
      </dsp:txBody>
      <dsp:txXfrm>
        <a:off x="3533077" y="1592630"/>
        <a:ext cx="1059329" cy="706218"/>
      </dsp:txXfrm>
    </dsp:sp>
    <dsp:sp modelId="{5C8C1744-1EF5-4530-803B-242E55F41B0C}">
      <dsp:nvSpPr>
        <dsp:cNvPr id="0" name=""/>
        <dsp:cNvSpPr/>
      </dsp:nvSpPr>
      <dsp:spPr>
        <a:xfrm>
          <a:off x="4768960" y="1592630"/>
          <a:ext cx="1765547" cy="70621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enorite"/>
            </a:rPr>
            <a:t>Contextual Retrieval</a:t>
          </a:r>
        </a:p>
      </dsp:txBody>
      <dsp:txXfrm>
        <a:off x="5122069" y="1592630"/>
        <a:ext cx="1059329" cy="706218"/>
      </dsp:txXfrm>
    </dsp:sp>
    <dsp:sp modelId="{7C8286F8-4C4D-4155-BF34-FFBC72A43679}">
      <dsp:nvSpPr>
        <dsp:cNvPr id="0" name=""/>
        <dsp:cNvSpPr/>
      </dsp:nvSpPr>
      <dsp:spPr>
        <a:xfrm>
          <a:off x="6357953" y="1592630"/>
          <a:ext cx="1765547" cy="70621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enorite"/>
            </a:rPr>
            <a:t>Answer Generation</a:t>
          </a:r>
        </a:p>
      </dsp:txBody>
      <dsp:txXfrm>
        <a:off x="6711062" y="1592630"/>
        <a:ext cx="1059329" cy="706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06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9.png"/><Relationship Id="rId4" Type="http://schemas.openxmlformats.org/officeDocument/2006/relationships/hyperlink" Target="https://www.loom.com/share/7f3430148d404d17b7906aeb877f5cf9?sid=81920ecb-5b79-43dc-8bc7-1390c3884d19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053840"/>
            <a:ext cx="4941771" cy="1122202"/>
          </a:xfrm>
        </p:spPr>
        <p:txBody>
          <a:bodyPr/>
          <a:lstStyle/>
          <a:p>
            <a:r>
              <a:rPr lang="en-US" sz="2800" dirty="0"/>
              <a:t>Auto-QUEST: Question answer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13726" y="5553024"/>
            <a:ext cx="4941770" cy="1122201"/>
          </a:xfrm>
        </p:spPr>
        <p:txBody>
          <a:bodyPr>
            <a:noAutofit/>
          </a:bodyPr>
          <a:lstStyle/>
          <a:p>
            <a:r>
              <a:rPr lang="en-US" dirty="0"/>
              <a:t>Arjun Karthikeya N</a:t>
            </a:r>
          </a:p>
          <a:p>
            <a:r>
              <a:rPr lang="en-US" dirty="0"/>
              <a:t>Sai Rakshith A M S</a:t>
            </a:r>
          </a:p>
          <a:p>
            <a:r>
              <a:rPr lang="en-US" dirty="0"/>
              <a:t>Utham 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1EF9-0B57-47CC-EFB6-238CF9161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460377"/>
            <a:ext cx="8421688" cy="1325563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94E08A-12A8-8136-D966-DEDC521C7EC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C297C0-AEFE-FCE4-4DE1-14DC134720BB}"/>
              </a:ext>
            </a:extLst>
          </p:cNvPr>
          <p:cNvSpPr txBox="1"/>
          <p:nvPr/>
        </p:nvSpPr>
        <p:spPr>
          <a:xfrm>
            <a:off x="1693333" y="1888067"/>
            <a:ext cx="8729134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800" dirty="0"/>
              <a:t>Project Overview</a:t>
            </a:r>
          </a:p>
          <a:p>
            <a:pPr marL="342900" indent="-342900">
              <a:buAutoNum type="arabicPeriod"/>
            </a:pPr>
            <a:r>
              <a:rPr lang="en-US" sz="1800" dirty="0"/>
              <a:t>Technology Stack</a:t>
            </a:r>
          </a:p>
          <a:p>
            <a:pPr marL="342900" indent="-342900">
              <a:buAutoNum type="arabicPeriod"/>
            </a:pPr>
            <a:r>
              <a:rPr lang="en-US" sz="1800" dirty="0"/>
              <a:t>System Architecture</a:t>
            </a:r>
          </a:p>
          <a:p>
            <a:pPr marL="342900" indent="-342900">
              <a:buAutoNum type="arabicPeriod"/>
            </a:pPr>
            <a:r>
              <a:rPr lang="en-US" sz="1800" dirty="0"/>
              <a:t>Dataset </a:t>
            </a:r>
          </a:p>
          <a:p>
            <a:pPr marL="342900" indent="-342900">
              <a:buAutoNum type="arabicPeriod"/>
            </a:pPr>
            <a:r>
              <a:rPr lang="en-US" sz="1800" dirty="0"/>
              <a:t>Question Generation Models(M1)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/>
              <a:t>Question Generation Models(M1-Alternative)</a:t>
            </a:r>
          </a:p>
          <a:p>
            <a:pPr marL="342900" indent="-342900">
              <a:buAutoNum type="arabicPeriod"/>
            </a:pPr>
            <a:r>
              <a:rPr lang="en-US" dirty="0"/>
              <a:t>Answer Generation Model(M2 – RAG)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Performance Metrics</a:t>
            </a:r>
          </a:p>
          <a:p>
            <a:pPr marL="342900" indent="-342900">
              <a:buAutoNum type="arabicPeriod"/>
            </a:pPr>
            <a:r>
              <a:rPr lang="en-US" dirty="0"/>
              <a:t>Demo</a:t>
            </a:r>
          </a:p>
          <a:p>
            <a:pPr marL="342900" indent="-342900">
              <a:buAutoNum type="arabicPeriod"/>
            </a:pPr>
            <a:r>
              <a:rPr lang="en-US" sz="1800" dirty="0"/>
              <a:t>Future Works</a:t>
            </a:r>
          </a:p>
          <a:p>
            <a:pPr marL="342900" indent="-342900">
              <a:buAutoNum type="arabicPeriod"/>
            </a:pPr>
            <a:r>
              <a:rPr lang="en-US" sz="1800" dirty="0"/>
              <a:t>Contributions</a:t>
            </a:r>
          </a:p>
          <a:p>
            <a:pPr marL="342900" indent="-342900">
              <a:buAutoNum type="arabicPeriod"/>
            </a:pPr>
            <a:r>
              <a:rPr lang="en-US" sz="1800" dirty="0"/>
              <a:t>Q&amp;A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98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B62C-11D0-254D-90FE-9A3B3038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E48C5-6051-FA08-7D02-62A28DAE711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AB3E5D-88A4-B42D-2A22-82217AAC7003}"/>
              </a:ext>
            </a:extLst>
          </p:cNvPr>
          <p:cNvSpPr txBox="1"/>
          <p:nvPr/>
        </p:nvSpPr>
        <p:spPr>
          <a:xfrm>
            <a:off x="1346200" y="2379134"/>
            <a:ext cx="9643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Question Answer pair for a given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a scalable architecture for knowledge retrieval.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Integrated transformer models with RAG.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a frontend application for interacting with the model</a:t>
            </a:r>
          </a:p>
        </p:txBody>
      </p:sp>
    </p:spTree>
    <p:extLst>
      <p:ext uri="{BB962C8B-B14F-4D97-AF65-F5344CB8AC3E}">
        <p14:creationId xmlns:p14="http://schemas.microsoft.com/office/powerpoint/2010/main" val="185319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397F-6A79-7559-4255-69656A620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EBC992F-8644-90DB-157F-86EB74F2066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4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EBD24-7620-EBBB-FC49-5C332F5467F7}"/>
              </a:ext>
            </a:extLst>
          </p:cNvPr>
          <p:cNvSpPr txBox="1"/>
          <p:nvPr/>
        </p:nvSpPr>
        <p:spPr>
          <a:xfrm>
            <a:off x="1481667" y="2473325"/>
            <a:ext cx="909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to text transformer (T5-small) for question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Bidirectional Encoder Representations from Transformers (BERT-GPT2) Hybrid Model for question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RAG (Retrieval-Augmented Generation) for answer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r>
              <a:rPr lang="en-US" dirty="0"/>
              <a:t> for 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Vector database (Milvus) for storing of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Streamlit</a:t>
            </a:r>
            <a:r>
              <a:rPr lang="en-US" dirty="0"/>
              <a:t> for frontend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65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B704-D2CE-5261-736F-FD0FF8A5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8662D92-20B8-F6D0-F6D6-8369A2EF74E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13C939-2DB5-B68F-B70F-FA942F245A92}"/>
              </a:ext>
            </a:extLst>
          </p:cNvPr>
          <p:cNvSpPr txBox="1"/>
          <p:nvPr/>
        </p:nvSpPr>
        <p:spPr>
          <a:xfrm>
            <a:off x="1667933" y="1947333"/>
            <a:ext cx="8923867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synthetically generated the dataset using Gemini 2.0 Flash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have generated context for 100 different scientific topics, where each context will have 3 different questions along with its respective difficulty tags.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have around 6327 unique contexts and a total of around 18,981 questions with its respective difficulty tag.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2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have generated the context for 100 different scientific topics, for each topic we have generated the question and answers.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have around 67,501 unique context along with its question and answers generated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5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6827-98DF-5249-1BDB-A821CCEB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6A3941-B991-DDCA-DE44-BAD5EB9FD4C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6</a:t>
            </a:fld>
            <a:endParaRPr lang="en-US" dirty="0"/>
          </a:p>
        </p:txBody>
      </p:sp>
      <p:pic>
        <p:nvPicPr>
          <p:cNvPr id="14" name="Content Placeholder 7" descr="A diagram of a model&#10;&#10;AI-generated content may be incorrect.">
            <a:extLst>
              <a:ext uri="{FF2B5EF4-FFF2-40B4-BE49-F238E27FC236}">
                <a16:creationId xmlns:a16="http://schemas.microsoft.com/office/drawing/2014/main" id="{91A13461-5C75-02C2-67F7-1E5F480D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238" y="2093520"/>
            <a:ext cx="5984088" cy="29564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EB9728-1DE5-C501-240F-19BF275867C4}"/>
              </a:ext>
            </a:extLst>
          </p:cNvPr>
          <p:cNvSpPr txBox="1"/>
          <p:nvPr/>
        </p:nvSpPr>
        <p:spPr>
          <a:xfrm>
            <a:off x="1206501" y="2217740"/>
            <a:ext cx="63584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Model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Finetuned T5 Text-to-text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Finetuned BERT-GPT2 model</a:t>
            </a:r>
          </a:p>
          <a:p>
            <a:endParaRPr lang="en-US" sz="1800" dirty="0"/>
          </a:p>
          <a:p>
            <a:r>
              <a:rPr lang="en-US" sz="1800" dirty="0"/>
              <a:t>Model 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Retrieval Augmented Generation</a:t>
            </a:r>
          </a:p>
        </p:txBody>
      </p:sp>
    </p:spTree>
    <p:extLst>
      <p:ext uri="{BB962C8B-B14F-4D97-AF65-F5344CB8AC3E}">
        <p14:creationId xmlns:p14="http://schemas.microsoft.com/office/powerpoint/2010/main" val="416224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9BF0F-F5B9-668B-C841-ECE1D239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699" y="456748"/>
            <a:ext cx="6999288" cy="1289278"/>
          </a:xfrm>
        </p:spPr>
        <p:txBody>
          <a:bodyPr/>
          <a:lstStyle/>
          <a:p>
            <a:r>
              <a:rPr lang="en-US" dirty="0"/>
              <a:t>System Architecture – cont.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FB461B-75DF-32B9-C571-37323C1AF4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19486" y="2068942"/>
            <a:ext cx="6984687" cy="39238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The diagram in the left is what we designed as a solution for the problem.</a:t>
            </a:r>
          </a:p>
          <a:p>
            <a:pPr marL="285750" indent="-285750" algn="l">
              <a:buFont typeface="Calibri" panose="020B0604020202020204" pitchFamily="34" charset="0"/>
              <a:buChar char="-"/>
            </a:pPr>
            <a:r>
              <a:rPr lang="en-US" dirty="0"/>
              <a:t>The Question Generation box is M1.</a:t>
            </a:r>
          </a:p>
          <a:p>
            <a:pPr marL="285750" indent="-285750" algn="l">
              <a:buFont typeface="Calibri" panose="020B0604020202020204" pitchFamily="34" charset="0"/>
              <a:buChar char="-"/>
            </a:pPr>
            <a:r>
              <a:rPr lang="en-US" dirty="0"/>
              <a:t>The parallel process until answer generation is M2.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3485BE9-E7AC-0891-71CA-AA6BC5E27A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A485D9-3ED7-CB11-F49F-D12992E91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5365"/>
            <a:ext cx="2188149" cy="498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9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561C-F7C1-0E17-FA20-AAD8C97A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Generation (M1)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E4AA713-4D6F-9FC5-643B-0125AD69B97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06E29E-D07F-73C9-3C3E-B8225692A5BF}"/>
              </a:ext>
            </a:extLst>
          </p:cNvPr>
          <p:cNvSpPr txBox="1"/>
          <p:nvPr/>
        </p:nvSpPr>
        <p:spPr>
          <a:xfrm>
            <a:off x="1439333" y="2217740"/>
            <a:ext cx="909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T5 small model which is a relatively smaller model compared to T5-base.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sequence-to-sequence framework optimized for text generation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: A pdf is given as the input and each paragraph is extracted.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Preprocess : The dataset is the preprocessed by extracting context, questions and answers separately.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: Top questions from the context, where each repeated question is penalized and asked to generate again.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then run a cosine similarity on the final questions to further remove questions which are very similar.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trained model.</a:t>
            </a:r>
          </a:p>
        </p:txBody>
      </p:sp>
    </p:spTree>
    <p:extLst>
      <p:ext uri="{BB962C8B-B14F-4D97-AF65-F5344CB8AC3E}">
        <p14:creationId xmlns:p14="http://schemas.microsoft.com/office/powerpoint/2010/main" val="28765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5261-9FE7-7577-9ADD-509978374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Generation (M1-Alternative)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354CE3-243C-0567-50C3-2ED385334FC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2935CE-59B6-3DD0-2FFA-28F26C114491}"/>
              </a:ext>
            </a:extLst>
          </p:cNvPr>
          <p:cNvSpPr txBox="1"/>
          <p:nvPr/>
        </p:nvSpPr>
        <p:spPr>
          <a:xfrm>
            <a:off x="2277534" y="2446867"/>
            <a:ext cx="78909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Encoder – decoder architecture using Bert base uncased - gpt2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Freeze most encoding layers except for the last 2 layers.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Special token are defined for different difficulty levels. (Easy, Medium and Hard)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pdf file is given as input from which each paragraph is extracted.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then run a cosine similarity on the final questions to further remove questions which are very similar.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423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3FD-E070-95FB-0CCE-9C7870D2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720" y="455580"/>
            <a:ext cx="8421688" cy="1325563"/>
          </a:xfrm>
        </p:spPr>
        <p:txBody>
          <a:bodyPr/>
          <a:lstStyle/>
          <a:p>
            <a:r>
              <a:rPr lang="en-US" dirty="0"/>
              <a:t>Answer Generation model(m2 - RAG)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037BF9-35AF-A2BB-D470-F6E082EDB8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19418" y="1781143"/>
            <a:ext cx="8950734" cy="27814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PDF Processing (PDF Utilities)</a:t>
            </a:r>
            <a:r>
              <a:rPr lang="en-US" dirty="0">
                <a:ea typeface="+mn-lt"/>
                <a:cs typeface="+mn-lt"/>
              </a:rPr>
              <a:t>: Extracts text, metadata, and structural elements from PDFs.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Vector Database (vector Database)</a:t>
            </a:r>
            <a:r>
              <a:rPr lang="en-US" dirty="0">
                <a:ea typeface="+mn-lt"/>
                <a:cs typeface="+mn-lt"/>
              </a:rPr>
              <a:t>: Chunks text semantically, generates embeddings, and stores content in Milvus with metadata for efficient retrieval.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Answer Generation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>
              <a:solidFill>
                <a:srgbClr val="404040"/>
              </a:solidFill>
              <a:ea typeface="+mn-lt"/>
              <a:cs typeface="+mn-lt"/>
            </a:endParaRPr>
          </a:p>
          <a:p>
            <a:pPr marL="971550" lvl="1" indent="-285750" algn="l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404040"/>
                </a:solidFill>
                <a:ea typeface="+mn-lt"/>
                <a:cs typeface="+mn-lt"/>
              </a:rPr>
              <a:t>Implements hybrid retrieval (vector similarity + BM25)</a:t>
            </a:r>
            <a:endParaRPr lang="en-US" sz="1400" dirty="0">
              <a:ea typeface="+mn-lt"/>
              <a:cs typeface="+mn-lt"/>
            </a:endParaRPr>
          </a:p>
          <a:p>
            <a:pPr marL="971550" lvl="1" indent="-285750" algn="l">
              <a:buFont typeface="Courier New" panose="020B0604020202020204" pitchFamily="34" charset="0"/>
              <a:buChar char="o"/>
            </a:pPr>
            <a:r>
              <a:rPr lang="en-US" sz="1400" dirty="0" err="1">
                <a:ea typeface="+mn-lt"/>
                <a:cs typeface="+mn-lt"/>
              </a:rPr>
              <a:t>Reranks</a:t>
            </a:r>
            <a:r>
              <a:rPr lang="en-US" sz="1400" dirty="0">
                <a:ea typeface="+mn-lt"/>
                <a:cs typeface="+mn-lt"/>
              </a:rPr>
              <a:t> results with cross-encoder models</a:t>
            </a:r>
            <a:endParaRPr lang="en-US" sz="1400" dirty="0"/>
          </a:p>
          <a:p>
            <a:pPr marL="971550" lvl="1" indent="-285750" algn="l">
              <a:buFont typeface="Courier New" panose="020B0604020202020204" pitchFamily="34" charset="0"/>
              <a:buChar char="o"/>
            </a:pPr>
            <a:r>
              <a:rPr lang="en-US" sz="1400" dirty="0">
                <a:ea typeface="+mn-lt"/>
                <a:cs typeface="+mn-lt"/>
              </a:rPr>
              <a:t>Generates contextual answers using sequence-to-sequence models</a:t>
            </a:r>
            <a:endParaRPr lang="en-US" sz="1400" dirty="0"/>
          </a:p>
          <a:p>
            <a:pPr marL="971550" lvl="1" indent="-285750" algn="l">
              <a:buFont typeface="Courier New" panose="020B0604020202020204" pitchFamily="34" charset="0"/>
              <a:buChar char="o"/>
            </a:pPr>
            <a:r>
              <a:rPr lang="en-US" sz="1400" dirty="0">
                <a:ea typeface="+mn-lt"/>
                <a:cs typeface="+mn-lt"/>
              </a:rPr>
              <a:t>Provides source attribution for verification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240956-89DA-F984-566F-7BD62E679AB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6521597-EA5F-D3E3-2863-45EB9AE6CA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8757808"/>
              </p:ext>
            </p:extLst>
          </p:nvPr>
        </p:nvGraphicFramePr>
        <p:xfrm>
          <a:off x="2063720" y="3429000"/>
          <a:ext cx="8125484" cy="3891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3006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EA73-6FA3-A2FE-2CAE-79ABA5FF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DAB9-CD21-5C4B-0109-A5003F518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-79372"/>
            <a:ext cx="8421688" cy="1325563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FBF950-A146-4801-3443-9FA3BD85BF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17290" y="6140031"/>
            <a:ext cx="9601767" cy="39888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/>
              <a:t>Video Link: </a:t>
            </a:r>
            <a:r>
              <a:rPr lang="en-US" dirty="0">
                <a:ea typeface="+mn-lt"/>
                <a:cs typeface="+mn-lt"/>
                <a:hlinkClick r:id="rId4"/>
              </a:rPr>
              <a:t>https://www.loom.com/share/7f3430148d404d17b7906aeb877f5cf9?sid=81920ecb-5b79-43dc-8bc7-1390c3884d19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5863074-EEEB-BE3F-D399-8B8C9BADA1A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AutoQuest.mp4">
            <a:hlinkClick r:id="" action="ppaction://media"/>
            <a:extLst>
              <a:ext uri="{FF2B5EF4-FFF2-40B4-BE49-F238E27FC236}">
                <a16:creationId xmlns:a16="http://schemas.microsoft.com/office/drawing/2014/main" id="{322A9817-8024-BE53-C366-F6170E881A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66823" y="961519"/>
            <a:ext cx="8702703" cy="495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9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67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08A5-F37C-71F0-836E-209774FC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A11AEC-4849-5642-14BE-55E2E5548E1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51330DD-359A-0EF5-1790-128AF587D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829747"/>
              </p:ext>
            </p:extLst>
          </p:nvPr>
        </p:nvGraphicFramePr>
        <p:xfrm>
          <a:off x="1780959" y="2433863"/>
          <a:ext cx="8627533" cy="2570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285067">
                  <a:extLst>
                    <a:ext uri="{9D8B030D-6E8A-4147-A177-3AD203B41FA5}">
                      <a16:colId xmlns:a16="http://schemas.microsoft.com/office/drawing/2014/main" val="61961227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9724339"/>
                    </a:ext>
                  </a:extLst>
                </a:gridCol>
                <a:gridCol w="2904066">
                  <a:extLst>
                    <a:ext uri="{9D8B030D-6E8A-4147-A177-3AD203B41FA5}">
                      <a16:colId xmlns:a16="http://schemas.microsoft.com/office/drawing/2014/main" val="51456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BLEU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ROUGE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562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T5 (Text to Text Transformers)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Easy Questions – 59.44</a:t>
                      </a:r>
                      <a:br>
                        <a:rPr lang="en-US" dirty="0"/>
                      </a:br>
                      <a:r>
                        <a:rPr lang="en-US" dirty="0"/>
                        <a:t>Medium Questions – 42.91</a:t>
                      </a:r>
                      <a:br>
                        <a:rPr lang="en-US" dirty="0"/>
                      </a:br>
                      <a:r>
                        <a:rPr lang="en-US" dirty="0"/>
                        <a:t>Hard Questions – 39.41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34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BERT – GPT2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Easy Questions – 35.19</a:t>
                      </a:r>
                      <a:br>
                        <a:rPr lang="en-US" dirty="0"/>
                      </a:br>
                      <a:r>
                        <a:rPr lang="en-US" dirty="0"/>
                        <a:t>Medium Questions – 28.51</a:t>
                      </a:r>
                      <a:br>
                        <a:rPr lang="en-US" dirty="0"/>
                      </a:br>
                      <a:r>
                        <a:rPr lang="en-US" dirty="0"/>
                        <a:t>Hard Questions – 30.81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875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RAG Model – Generative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04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824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D44C-B2C6-C8F9-EF7F-0353BA8B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401" y="965678"/>
            <a:ext cx="3171825" cy="1325563"/>
          </a:xfrm>
        </p:spPr>
        <p:txBody>
          <a:bodyPr/>
          <a:lstStyle/>
          <a:p>
            <a:r>
              <a:rPr lang="en-US" dirty="0"/>
              <a:t>Future Enhancements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D39C2-D481-5E68-1840-F3772689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838422"/>
            <a:ext cx="3621767" cy="36079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Developing the model to manage multimodal inputs, such as schematics and pictures.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Extend the core functionalities to accommodate other languages.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4D3A3-970A-25FA-A8DB-EDA718B5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1032" y="6492875"/>
            <a:ext cx="987552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998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57B4-2AA2-45BF-3683-EDE126BD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137F54C8-17A5-2A47-72D3-7D35A8FEE14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6294" b="6294"/>
          <a:stretch/>
        </p:blipFill>
        <p:spPr/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D60D5528-8802-8ACF-D7A3-A3A494B5F41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16348" b="16348"/>
          <a:stretch/>
        </p:blipFill>
        <p:spPr>
          <a:xfrm>
            <a:off x="5173663" y="2886075"/>
            <a:ext cx="1844675" cy="1846263"/>
          </a:xfrm>
        </p:spPr>
      </p:pic>
      <p:pic>
        <p:nvPicPr>
          <p:cNvPr id="3" name="Picture Placeholder 2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D79D5DD5-53F7-5DB3-5898-0187AC4F8E0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/>
          <a:srcRect/>
          <a:stretch/>
        </p:blipFill>
        <p:spPr>
          <a:xfrm>
            <a:off x="8610600" y="2886075"/>
            <a:ext cx="1846263" cy="184626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96A75C-9AAC-2506-A1B9-001916F64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8064" y="4862314"/>
            <a:ext cx="2123743" cy="343061"/>
          </a:xfrm>
        </p:spPr>
        <p:txBody>
          <a:bodyPr/>
          <a:lstStyle/>
          <a:p>
            <a:r>
              <a:rPr lang="en-US" dirty="0"/>
              <a:t>Arjun K 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C07ACA-FE41-361E-B942-3B6E862EB63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028121" y="4957294"/>
            <a:ext cx="2135755" cy="343061"/>
          </a:xfrm>
        </p:spPr>
        <p:txBody>
          <a:bodyPr/>
          <a:lstStyle/>
          <a:p>
            <a:r>
              <a:rPr lang="en-US" dirty="0"/>
              <a:t>Sai Rakshith A M 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579085-329D-4BA8-38BB-43395B959523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610600" y="4927675"/>
            <a:ext cx="2123743" cy="343061"/>
          </a:xfrm>
        </p:spPr>
        <p:txBody>
          <a:bodyPr/>
          <a:lstStyle/>
          <a:p>
            <a:r>
              <a:rPr lang="en-US" dirty="0"/>
              <a:t>Utham N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1E1FACF-F375-D36C-F3BD-42805178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24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1956-DDA2-0596-9A4B-9396769E5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94DB1-F806-3EC4-EEC4-B50D7C81C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8" y="2346008"/>
            <a:ext cx="3171825" cy="2519363"/>
          </a:xfrm>
        </p:spPr>
        <p:txBody>
          <a:bodyPr>
            <a:noAutofit/>
          </a:bodyPr>
          <a:lstStyle/>
          <a:p>
            <a:r>
              <a:rPr lang="en-US" dirty="0"/>
              <a:t>Arjun – Fine tuned Bert – GPT 2 Hybrid model</a:t>
            </a:r>
          </a:p>
          <a:p>
            <a:r>
              <a:rPr lang="en-US" dirty="0"/>
              <a:t>Sai Rakshith – Fine Tuned T5 (Text-to-text) Transformer model</a:t>
            </a:r>
          </a:p>
          <a:p>
            <a:r>
              <a:rPr lang="en-US" dirty="0"/>
              <a:t>Utham – RAG Model</a:t>
            </a:r>
          </a:p>
          <a:p>
            <a:r>
              <a:rPr lang="en-US" dirty="0"/>
              <a:t>Dataset Generation – Combined effort of all the 3 people.</a:t>
            </a:r>
          </a:p>
          <a:p>
            <a:r>
              <a:rPr lang="en-US" dirty="0"/>
              <a:t>Frontend Integration – Combined effort of all the 3 people.</a:t>
            </a:r>
          </a:p>
          <a:p>
            <a:r>
              <a:rPr lang="en-US" dirty="0"/>
              <a:t>Report, PPT – Combined effort of all the 3 people.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9885E-D25C-850C-B150-D7ECE41B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37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1845F9-C5F4-4AA5-BA9E-EC2182E91488}">
  <ds:schemaRefs>
    <ds:schemaRef ds:uri="http://purl.org/dc/dcmitype/"/>
    <ds:schemaRef ds:uri="http://schemas.microsoft.com/office/2006/metadata/properties"/>
    <ds:schemaRef ds:uri="230e9df3-be65-4c73-a93b-d1236ebd677e"/>
    <ds:schemaRef ds:uri="http://schemas.microsoft.com/sharepoint/v3"/>
    <ds:schemaRef ds:uri="16c05727-aa75-4e4a-9b5f-8a80a1165891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BFCE94-6EC9-4D8E-89B6-C22DE7AD70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750</Words>
  <Application>Microsoft Macintosh PowerPoint</Application>
  <PresentationFormat>Widescreen</PresentationFormat>
  <Paragraphs>124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Tenorite</vt:lpstr>
      <vt:lpstr>Monoline</vt:lpstr>
      <vt:lpstr>Auto-QUEST: Question answer Generator</vt:lpstr>
      <vt:lpstr>Outline</vt:lpstr>
      <vt:lpstr>Project overview</vt:lpstr>
      <vt:lpstr>Technology Stack</vt:lpstr>
      <vt:lpstr>Dataset</vt:lpstr>
      <vt:lpstr>System Architecture</vt:lpstr>
      <vt:lpstr>System Architecture – cont.</vt:lpstr>
      <vt:lpstr>Question Generation (M1)</vt:lpstr>
      <vt:lpstr>Question Generation (M1-Alternative)</vt:lpstr>
      <vt:lpstr>Answer Generation model(m2 - RAG)</vt:lpstr>
      <vt:lpstr>DEMO</vt:lpstr>
      <vt:lpstr>Performance Metrics</vt:lpstr>
      <vt:lpstr>Future Enhancements </vt:lpstr>
      <vt:lpstr>Meet The Team</vt:lpstr>
      <vt:lpstr>Contributions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204</cp:revision>
  <dcterms:created xsi:type="dcterms:W3CDTF">2023-07-24T01:11:48Z</dcterms:created>
  <dcterms:modified xsi:type="dcterms:W3CDTF">2025-04-25T05:49:52Z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